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9e07f622ef4896" /><Relationship Type="http://schemas.openxmlformats.org/officeDocument/2006/relationships/extended-properties" Target="/docProps/app.xml" Id="R246eeb5312ed4288" /><Relationship Type="http://schemas.openxmlformats.org/officeDocument/2006/relationships/officeDocument" Target="/ppt/presentation.xml" Id="R4a636f210a1b4c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969396afd74889"/>
  </p:sldMasterIdLst>
  <p:notesMasterIdLst>
    <p:notesMasterId xmlns:r="http://schemas.openxmlformats.org/officeDocument/2006/relationships" r:id="Ra9dd1fd055dc4f86"/>
  </p:notesMasterIdLst>
  <p:sldIdLst>
    <p:sldId xmlns:r="http://schemas.openxmlformats.org/officeDocument/2006/relationships" id="256" r:id="R4bd77f0ce7a74044"/>
    <p:sldId xmlns:r="http://schemas.openxmlformats.org/officeDocument/2006/relationships" id="257" r:id="Ra9288cadf04b4072"/>
    <p:sldId xmlns:r="http://schemas.openxmlformats.org/officeDocument/2006/relationships" id="258" r:id="R78a16234ddaa4413"/>
    <p:sldId xmlns:r="http://schemas.openxmlformats.org/officeDocument/2006/relationships" id="259" r:id="Rcf485261d6e04bfe"/>
    <p:sldId xmlns:r="http://schemas.openxmlformats.org/officeDocument/2006/relationships" id="260" r:id="R7f882250d5c540e0"/>
    <p:sldId xmlns:r="http://schemas.openxmlformats.org/officeDocument/2006/relationships" id="261" r:id="Rbe0b2c47c53e4e37"/>
    <p:sldId xmlns:r="http://schemas.openxmlformats.org/officeDocument/2006/relationships" id="262" r:id="Rf29f3e8fe99e48cc"/>
    <p:sldId xmlns:r="http://schemas.openxmlformats.org/officeDocument/2006/relationships" id="263" r:id="R4447ffe7ed574678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969396afd74889" /><Relationship Type="http://schemas.openxmlformats.org/officeDocument/2006/relationships/theme" Target="/ppt/theme/theme1.xml" Id="R65bccf1eec204076" /><Relationship Type="http://schemas.openxmlformats.org/officeDocument/2006/relationships/notesMaster" Target="/ppt/notesMasters/notesMaster1.xml" Id="Ra9dd1fd055dc4f86" /><Relationship Type="http://schemas.openxmlformats.org/officeDocument/2006/relationships/presProps" Target="/ppt/presProps.xml" Id="R3b5ca3b7bffb4d16" /><Relationship Type="http://schemas.openxmlformats.org/officeDocument/2006/relationships/viewProps" Target="/ppt/viewProps.xml" Id="R2c07159d4d9a47e5" /><Relationship Type="http://schemas.openxmlformats.org/officeDocument/2006/relationships/tableStyles" Target="/ppt/tableStyles.xml" Id="Ra46bc7ef57684262" /><Relationship Type="http://schemas.openxmlformats.org/officeDocument/2006/relationships/slide" Target="/ppt/slides/slide1.xml" Id="R4bd77f0ce7a74044" /><Relationship Type="http://schemas.openxmlformats.org/officeDocument/2006/relationships/slide" Target="/ppt/slides/slide2.xml" Id="Ra9288cadf04b4072" /><Relationship Type="http://schemas.openxmlformats.org/officeDocument/2006/relationships/slide" Target="/ppt/slides/slide3.xml" Id="R78a16234ddaa4413" /><Relationship Type="http://schemas.openxmlformats.org/officeDocument/2006/relationships/slide" Target="/ppt/slides/slide4.xml" Id="Rcf485261d6e04bfe" /><Relationship Type="http://schemas.openxmlformats.org/officeDocument/2006/relationships/slide" Target="/ppt/slides/slide5.xml" Id="R7f882250d5c540e0" /><Relationship Type="http://schemas.openxmlformats.org/officeDocument/2006/relationships/slide" Target="/ppt/slides/slide6.xml" Id="Rbe0b2c47c53e4e37" /><Relationship Type="http://schemas.openxmlformats.org/officeDocument/2006/relationships/slide" Target="/ppt/slides/slide7.xml" Id="Rf29f3e8fe99e48cc" /><Relationship Type="http://schemas.openxmlformats.org/officeDocument/2006/relationships/slide" Target="/ppt/slides/slide8.xml" Id="R4447ffe7ed5746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7e796a2b0014a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5f30a20d4c46d7" /><Relationship Type="http://schemas.openxmlformats.org/officeDocument/2006/relationships/notesMaster" Target="/ppt/notesMasters/notesMaster1.xml" Id="R7b44b5b2765b4d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b25dd338854cfd" /><Relationship Type="http://schemas.openxmlformats.org/officeDocument/2006/relationships/notesMaster" Target="/ppt/notesMasters/notesMaster1.xml" Id="R0b739ed5c56248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3a3c35b85d4c45" /><Relationship Type="http://schemas.openxmlformats.org/officeDocument/2006/relationships/notesMaster" Target="/ppt/notesMasters/notesMaster1.xml" Id="R3698d9d0b94644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07b9537255430d" /><Relationship Type="http://schemas.openxmlformats.org/officeDocument/2006/relationships/notesMaster" Target="/ppt/notesMasters/notesMaster1.xml" Id="Rd8d2f1dd380940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7108a64e004144" /><Relationship Type="http://schemas.openxmlformats.org/officeDocument/2006/relationships/notesMaster" Target="/ppt/notesMasters/notesMaster1.xml" Id="R09b22228cdce48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2f36e765d7417f" /><Relationship Type="http://schemas.openxmlformats.org/officeDocument/2006/relationships/notesMaster" Target="/ppt/notesMasters/notesMaster1.xml" Id="R833e4fa6a6ae4a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d53efbd4364136" /><Relationship Type="http://schemas.openxmlformats.org/officeDocument/2006/relationships/notesMaster" Target="/ppt/notesMasters/notesMaster1.xml" Id="R9656ab40b6d54c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31b64c632b4642" /><Relationship Type="http://schemas.openxmlformats.org/officeDocument/2006/relationships/notesMaster" Target="/ppt/notesMasters/notesMaster1.xml" Id="R58011ae1d1dd4a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52c490fdc54c1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29d115d52f44ee0" /><Relationship Type="http://schemas.openxmlformats.org/officeDocument/2006/relationships/slideLayout" Target="/ppt/slideLayouts/slideLayout2.xml" Id="Rccae12817f4042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ae12817f4042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64f89e9d9e4919" /><Relationship Type="http://schemas.openxmlformats.org/officeDocument/2006/relationships/notesSlide" Target="/ppt/notesSlides/notesSlide1.xml" Id="R2164c8aaf5c848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1d3a19c6b84370" /><Relationship Type="http://schemas.openxmlformats.org/officeDocument/2006/relationships/notesSlide" Target="/ppt/notesSlides/notesSlide2.xml" Id="R339aabe420bb4a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4670e51c274339" /><Relationship Type="http://schemas.openxmlformats.org/officeDocument/2006/relationships/notesSlide" Target="/ppt/notesSlides/notesSlide3.xml" Id="R09541701706a4b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1463a1ec074051" /><Relationship Type="http://schemas.openxmlformats.org/officeDocument/2006/relationships/notesSlide" Target="/ppt/notesSlides/notesSlide4.xml" Id="R7d3bfaec78c44a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863b03c3b7451a" /><Relationship Type="http://schemas.openxmlformats.org/officeDocument/2006/relationships/notesSlide" Target="/ppt/notesSlides/notesSlide5.xml" Id="Rc9fb38c169f044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f4c31685bb41ec" /><Relationship Type="http://schemas.openxmlformats.org/officeDocument/2006/relationships/notesSlide" Target="/ppt/notesSlides/notesSlide6.xml" Id="Rec21a10e7c7e49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da3011c5c64b1b" /><Relationship Type="http://schemas.openxmlformats.org/officeDocument/2006/relationships/notesSlide" Target="/ppt/notesSlides/notesSlide7.xml" Id="Ra512c469ed6540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447e9ddeb340a1" /><Relationship Type="http://schemas.openxmlformats.org/officeDocument/2006/relationships/notesSlide" Target="/ppt/notesSlides/notesSlide8.xml" Id="R20550190904241b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C7301FAD-D8B4-4E7C-8E8B-E504B535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49720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F2528"/>
                </a:solidFill>
              </a:defRPr>
            </a:pPr>
            <a:r>
              <a:rPr sz="4650" b="1">
                <a:solidFill>
                  <a:srgbClr val="1F2528"/>
                </a:solidFill>
              </a:rPr>
              <a:t>RecipeOps CI/CD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77955755-D04F-4509-A984-CE91A516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62100"/>
            <a:ext cx="266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62F"/>
          </a:solidFill>
          <a:ln xmlns:a="http://schemas.openxmlformats.org/drawingml/2006/main" w="0">
            <a:solidFill>
              <a:srgbClr val="25362F"/>
            </a:solidFill>
            <a:prstDash val="solid"/>
          </a:ln>
        </p:spPr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AF81833-0677-463F-A0D2-F5CA4CD4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112204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1736B"/>
                </a:solidFill>
              </a:defRPr>
            </a:pPr>
            <a:r>
              <a:rPr sz="1950">
                <a:solidFill>
                  <a:srgbClr val="61736B"/>
                </a:solidFill>
              </a:rPr>
              <a:t>A microservice deployment with automated provisioning, testing, image scanning, and revision-based rollback.</a:t>
            </a:r>
          </a:p>
        </p:txBody>
      </p:sp>
      <p:sp>
        <p:nvSpPr>
          <p:cNvPr id="4" name="point-0">
            <a:extLst xmlns:a="http://schemas.openxmlformats.org/drawingml/2006/main">
              <a:ext uri="{FF2B5EF4-FFF2-40B4-BE49-F238E27FC236}">
                <a16:creationId xmlns:a16="http://schemas.microsoft.com/office/drawing/2014/main" id="{BAEB5A07-E86B-465B-8EFF-07BD0F40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9870"/>
            <a:ext cx="9113520" cy="69342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5" name="point-text-0">
            <a:extLst xmlns:a="http://schemas.openxmlformats.org/drawingml/2006/main">
              <a:ext uri="{FF2B5EF4-FFF2-40B4-BE49-F238E27FC236}">
                <a16:creationId xmlns:a16="http://schemas.microsoft.com/office/drawing/2014/main" id="{96A51420-0F9B-421E-9D6D-EAD3BA31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71800"/>
            <a:ext cx="857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F2528"/>
                </a:solidFill>
              </a:defRPr>
            </a:pPr>
            <a:r>
              <a:rPr sz="1800">
                <a:solidFill>
                  <a:srgbClr val="1F2528"/>
                </a:solidFill>
              </a:rPr>
              <a:t>Three deployable services plus one managed data layer.</a:t>
            </a:r>
          </a:p>
        </p:txBody>
      </p:sp>
      <p:sp>
        <p:nvSpPr>
          <p:cNvPr id="6" name="point-1">
            <a:extLst xmlns:a="http://schemas.openxmlformats.org/drawingml/2006/main">
              <a:ext uri="{FF2B5EF4-FFF2-40B4-BE49-F238E27FC236}">
                <a16:creationId xmlns:a16="http://schemas.microsoft.com/office/drawing/2014/main" id="{55669722-BE3F-4497-B437-13BD0D34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3790"/>
            <a:ext cx="9113520" cy="69342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7" name="point-text-1">
            <a:extLst xmlns:a="http://schemas.openxmlformats.org/drawingml/2006/main">
              <a:ext uri="{FF2B5EF4-FFF2-40B4-BE49-F238E27FC236}">
                <a16:creationId xmlns:a16="http://schemas.microsoft.com/office/drawing/2014/main" id="{4FF378EA-EC93-4FEB-9096-FAD5EA15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67150"/>
            <a:ext cx="857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F2528"/>
                </a:solidFill>
              </a:defRPr>
            </a:pPr>
            <a:r>
              <a:rPr sz="1800">
                <a:solidFill>
                  <a:srgbClr val="1F2528"/>
                </a:solidFill>
              </a:rPr>
              <a:t>Local runs use Docker Compose.</a:t>
            </a:r>
          </a:p>
        </p:txBody>
      </p:sp>
      <p:sp>
        <p:nvSpPr>
          <p:cNvPr id="8" name="point-2">
            <a:extLst xmlns:a="http://schemas.openxmlformats.org/drawingml/2006/main">
              <a:ext uri="{FF2B5EF4-FFF2-40B4-BE49-F238E27FC236}">
                <a16:creationId xmlns:a16="http://schemas.microsoft.com/office/drawing/2014/main" id="{3C34213D-03E6-47B9-A35E-4A765BB8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7710"/>
            <a:ext cx="9113520" cy="69342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9" name="point-text-2">
            <a:extLst xmlns:a="http://schemas.openxmlformats.org/drawingml/2006/main">
              <a:ext uri="{FF2B5EF4-FFF2-40B4-BE49-F238E27FC236}">
                <a16:creationId xmlns:a16="http://schemas.microsoft.com/office/drawing/2014/main" id="{AC8BA8DE-4328-4572-96FD-1E11462D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43450"/>
            <a:ext cx="857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F2528"/>
                </a:solidFill>
              </a:defRPr>
            </a:pPr>
            <a:r>
              <a:rPr sz="1800">
                <a:solidFill>
                  <a:srgbClr val="1F2528"/>
                </a:solidFill>
              </a:rPr>
              <a:t>Cloud deployment targets Azure Container Apps.</a:t>
            </a:r>
          </a:p>
        </p:txBody>
      </p:sp>
      <p:sp>
        <p:nvSpPr>
          <p:cNvPr id="10" name="signal">
            <a:extLst xmlns:a="http://schemas.openxmlformats.org/drawingml/2006/main">
              <a:ext uri="{FF2B5EF4-FFF2-40B4-BE49-F238E27FC236}">
                <a16:creationId xmlns:a16="http://schemas.microsoft.com/office/drawing/2014/main" id="{8C10CBD3-30AE-471B-8305-FEB82244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520" y="2769870"/>
            <a:ext cx="6736080" cy="6267450"/>
          </a:xfrm>
          <a:prstGeom xmlns:a="http://schemas.openxmlformats.org/drawingml/2006/main" prst="roundRect">
            <a:avLst>
              <a:gd name="adj" fmla="val 1216"/>
            </a:avLst>
          </a:prstGeom>
          <a:solidFill xmlns:a="http://schemas.openxmlformats.org/drawingml/2006/main">
            <a:srgbClr val="25362F"/>
          </a:solidFill>
        </p:spPr>
      </p:sp>
      <p:sp>
        <p:nvSpPr>
          <p:cNvPr id="11" name="brand">
            <a:extLst xmlns:a="http://schemas.openxmlformats.org/drawingml/2006/main">
              <a:ext uri="{FF2B5EF4-FFF2-40B4-BE49-F238E27FC236}">
                <a16:creationId xmlns:a16="http://schemas.microsoft.com/office/drawing/2014/main" id="{8C6A6D4C-66D8-4792-8DB8-95D1F93B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162300"/>
            <a:ext cx="5943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RecipeOps</a:t>
            </a:r>
          </a:p>
        </p:txBody>
      </p:sp>
      <p:sp>
        <p:nvSpPr>
          <p:cNvPr id="12" name="divider">
            <a:extLst xmlns:a="http://schemas.openxmlformats.org/drawingml/2006/main">
              <a:ext uri="{FF2B5EF4-FFF2-40B4-BE49-F238E27FC236}">
                <a16:creationId xmlns:a16="http://schemas.microsoft.com/office/drawing/2014/main" id="{AA4DE09E-F123-47BA-BF8B-9F16C4B7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962400"/>
            <a:ext cx="5943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3" name="stack">
            <a:extLst xmlns:a="http://schemas.openxmlformats.org/drawingml/2006/main">
              <a:ext uri="{FF2B5EF4-FFF2-40B4-BE49-F238E27FC236}">
                <a16:creationId xmlns:a16="http://schemas.microsoft.com/office/drawing/2014/main" id="{148326EB-F0F3-4987-9CB4-474578F9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191000"/>
            <a:ext cx="5943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7FBF9"/>
                </a:solidFill>
              </a:defRPr>
            </a:pPr>
            <a:r>
              <a:rPr sz="2250">
                <a:solidFill>
                  <a:srgbClr val="F7FBF9"/>
                </a:solidFill>
              </a:rPr>
              <a:t>frontend + catalog API + recommendation API + PostgreSQL</a:t>
            </a:r>
          </a:p>
        </p:txBody>
      </p:sp>
      <p:sp>
        <p:nvSpPr>
          <p:cNvPr id="14" name="tools">
            <a:extLst xmlns:a="http://schemas.openxmlformats.org/drawingml/2006/main">
              <a:ext uri="{FF2B5EF4-FFF2-40B4-BE49-F238E27FC236}">
                <a16:creationId xmlns:a16="http://schemas.microsoft.com/office/drawing/2014/main" id="{D9520DF8-F61C-4A25-9139-74CDED89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105400"/>
            <a:ext cx="5943600" cy="3543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E5F0EC"/>
                </a:solidFill>
              </a:defRPr>
            </a:pPr>
            <a:r>
              <a:rPr sz="1725">
                <a:solidFill>
                  <a:srgbClr val="E5F0EC"/>
                </a:solidFill>
              </a:rPr>
              <a:t>Automated with GitHub Actions, Terraform, Azure Container Apps, ACR, and Trivy.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2347535E-97D6-4EC9-880C-B69CE401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10700"/>
            <a:ext cx="1645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1736B"/>
                </a:solidFill>
              </a:defRPr>
            </a:pPr>
            <a:r>
              <a:rPr sz="1200">
                <a:solidFill>
                  <a:srgbClr val="61736B"/>
                </a:solidFill>
              </a:rPr>
              <a:t>RecipeOps release deck</a:t>
            </a:r>
          </a:p>
        </p:txBody>
      </p:sp>
    </p:spTree>
    <p:extLst>
      <p:ext uri="{BB962C8B-B14F-4D97-AF65-F5344CB8AC3E}">
        <p14:creationId xmlns:p14="http://schemas.microsoft.com/office/powerpoint/2010/main" val="110549149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3A2D50D4-3250-4FA3-9D62-04AE113C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34671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F2528"/>
                </a:solidFill>
              </a:defRPr>
            </a:pPr>
            <a:r>
              <a:rPr sz="4650" b="1">
                <a:solidFill>
                  <a:srgbClr val="1F2528"/>
                </a:solidFill>
              </a:rPr>
              <a:t>Architecture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9E8A62F6-F7BE-4196-8C5D-3C9DD45E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62100"/>
            <a:ext cx="266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72"/>
          </a:solidFill>
          <a:ln xmlns:a="http://schemas.openxmlformats.org/drawingml/2006/main" w="0">
            <a:solidFill>
              <a:srgbClr val="315C72"/>
            </a:solidFill>
            <a:prstDash val="solid"/>
          </a:ln>
        </p:spPr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CCE3136-6DFF-4C55-9716-3F401789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11734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1736B"/>
                </a:solidFill>
              </a:defRPr>
            </a:pPr>
            <a:r>
              <a:rPr sz="1950">
                <a:solidFill>
                  <a:srgbClr val="61736B"/>
                </a:solidFill>
              </a:rPr>
              <a:t>Service boundaries are explicit: the recommendation API calls the catalog API instead of owning database access.</a:t>
            </a:r>
          </a:p>
        </p:txBody>
      </p:sp>
      <p:sp>
        <p:nvSpPr>
          <p:cNvPr id="4" name="point-0">
            <a:extLst xmlns:a="http://schemas.openxmlformats.org/drawingml/2006/main">
              <a:ext uri="{FF2B5EF4-FFF2-40B4-BE49-F238E27FC236}">
                <a16:creationId xmlns:a16="http://schemas.microsoft.com/office/drawing/2014/main" id="{EEE47965-94DE-490F-8D4B-E0F9660E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9870"/>
            <a:ext cx="9113520" cy="69342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5" name="point-text-0">
            <a:extLst xmlns:a="http://schemas.openxmlformats.org/drawingml/2006/main">
              <a:ext uri="{FF2B5EF4-FFF2-40B4-BE49-F238E27FC236}">
                <a16:creationId xmlns:a16="http://schemas.microsoft.com/office/drawing/2014/main" id="{6DEA4A83-E14A-4DE9-8BAE-92BFFB85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71800"/>
            <a:ext cx="857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F2528"/>
                </a:solidFill>
              </a:defRPr>
            </a:pPr>
            <a:r>
              <a:rPr sz="1800">
                <a:solidFill>
                  <a:srgbClr val="1F2528"/>
                </a:solidFill>
              </a:rPr>
              <a:t>Frontend proxies browser requests to backend services.</a:t>
            </a:r>
          </a:p>
        </p:txBody>
      </p:sp>
      <p:sp>
        <p:nvSpPr>
          <p:cNvPr id="6" name="point-1">
            <a:extLst xmlns:a="http://schemas.openxmlformats.org/drawingml/2006/main">
              <a:ext uri="{FF2B5EF4-FFF2-40B4-BE49-F238E27FC236}">
                <a16:creationId xmlns:a16="http://schemas.microsoft.com/office/drawing/2014/main" id="{6247B6B9-1E66-4570-980E-3AC31D82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3790"/>
            <a:ext cx="9113520" cy="69342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7" name="point-text-1">
            <a:extLst xmlns:a="http://schemas.openxmlformats.org/drawingml/2006/main">
              <a:ext uri="{FF2B5EF4-FFF2-40B4-BE49-F238E27FC236}">
                <a16:creationId xmlns:a16="http://schemas.microsoft.com/office/drawing/2014/main" id="{22192865-226C-4F11-B34A-1D4B2A48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67150"/>
            <a:ext cx="857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F2528"/>
                </a:solidFill>
              </a:defRPr>
            </a:pPr>
            <a:r>
              <a:rPr sz="1800">
                <a:solidFill>
                  <a:srgbClr val="1F2528"/>
                </a:solidFill>
              </a:rPr>
              <a:t>Catalog API owns recipe validation and persistence.</a:t>
            </a:r>
          </a:p>
        </p:txBody>
      </p:sp>
      <p:sp>
        <p:nvSpPr>
          <p:cNvPr id="8" name="point-2">
            <a:extLst xmlns:a="http://schemas.openxmlformats.org/drawingml/2006/main">
              <a:ext uri="{FF2B5EF4-FFF2-40B4-BE49-F238E27FC236}">
                <a16:creationId xmlns:a16="http://schemas.microsoft.com/office/drawing/2014/main" id="{BB61E8D3-07A9-4F32-8BDA-61BBD499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7710"/>
            <a:ext cx="9113520" cy="69342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9" name="point-text-2">
            <a:extLst xmlns:a="http://schemas.openxmlformats.org/drawingml/2006/main">
              <a:ext uri="{FF2B5EF4-FFF2-40B4-BE49-F238E27FC236}">
                <a16:creationId xmlns:a16="http://schemas.microsoft.com/office/drawing/2014/main" id="{EC5AF5E0-34FD-4D42-AAA1-C598223D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43450"/>
            <a:ext cx="857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F2528"/>
                </a:solidFill>
              </a:defRPr>
            </a:pPr>
            <a:r>
              <a:rPr sz="1800">
                <a:solidFill>
                  <a:srgbClr val="1F2528"/>
                </a:solidFill>
              </a:rPr>
              <a:t>PostgreSQL is the durable data layer.</a:t>
            </a:r>
          </a:p>
        </p:txBody>
      </p:sp>
      <p:sp>
        <p:nvSpPr>
          <p:cNvPr id="10" name="signal">
            <a:extLst xmlns:a="http://schemas.openxmlformats.org/drawingml/2006/main">
              <a:ext uri="{FF2B5EF4-FFF2-40B4-BE49-F238E27FC236}">
                <a16:creationId xmlns:a16="http://schemas.microsoft.com/office/drawing/2014/main" id="{B3FB0B23-E356-4C4E-BEF7-B654F5B9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520" y="2769870"/>
            <a:ext cx="6736080" cy="6267450"/>
          </a:xfrm>
          <a:prstGeom xmlns:a="http://schemas.openxmlformats.org/drawingml/2006/main" prst="roundRect">
            <a:avLst>
              <a:gd name="adj" fmla="val 1216"/>
            </a:avLst>
          </a:prstGeom>
          <a:solidFill xmlns:a="http://schemas.openxmlformats.org/drawingml/2006/main">
            <a:srgbClr val="315C72"/>
          </a:solidFill>
        </p:spPr>
      </p:sp>
      <p:sp>
        <p:nvSpPr>
          <p:cNvPr id="11" name="brand">
            <a:extLst xmlns:a="http://schemas.openxmlformats.org/drawingml/2006/main">
              <a:ext uri="{FF2B5EF4-FFF2-40B4-BE49-F238E27FC236}">
                <a16:creationId xmlns:a16="http://schemas.microsoft.com/office/drawing/2014/main" id="{D4E565F2-BBB1-4ACB-821B-BCFC828B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162300"/>
            <a:ext cx="5943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RecipeOps</a:t>
            </a:r>
          </a:p>
        </p:txBody>
      </p:sp>
      <p:sp>
        <p:nvSpPr>
          <p:cNvPr id="12" name="divider">
            <a:extLst xmlns:a="http://schemas.openxmlformats.org/drawingml/2006/main">
              <a:ext uri="{FF2B5EF4-FFF2-40B4-BE49-F238E27FC236}">
                <a16:creationId xmlns:a16="http://schemas.microsoft.com/office/drawing/2014/main" id="{3ADCABFE-B894-4148-97D3-FF854060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962400"/>
            <a:ext cx="5943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3" name="stack">
            <a:extLst xmlns:a="http://schemas.openxmlformats.org/drawingml/2006/main">
              <a:ext uri="{FF2B5EF4-FFF2-40B4-BE49-F238E27FC236}">
                <a16:creationId xmlns:a16="http://schemas.microsoft.com/office/drawing/2014/main" id="{A0D9475E-537B-4CB9-87C0-621B318B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191000"/>
            <a:ext cx="5943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7FBF9"/>
                </a:solidFill>
              </a:defRPr>
            </a:pPr>
            <a:r>
              <a:rPr sz="2250">
                <a:solidFill>
                  <a:srgbClr val="F7FBF9"/>
                </a:solidFill>
              </a:rPr>
              <a:t>frontend + catalog API + recommendation API + PostgreSQL</a:t>
            </a:r>
          </a:p>
        </p:txBody>
      </p:sp>
      <p:sp>
        <p:nvSpPr>
          <p:cNvPr id="14" name="tools">
            <a:extLst xmlns:a="http://schemas.openxmlformats.org/drawingml/2006/main">
              <a:ext uri="{FF2B5EF4-FFF2-40B4-BE49-F238E27FC236}">
                <a16:creationId xmlns:a16="http://schemas.microsoft.com/office/drawing/2014/main" id="{04B67F9F-33D0-4A2E-A991-F6307137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105400"/>
            <a:ext cx="5943600" cy="3543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E5F0EC"/>
                </a:solidFill>
              </a:defRPr>
            </a:pPr>
            <a:r>
              <a:rPr sz="1725">
                <a:solidFill>
                  <a:srgbClr val="E5F0EC"/>
                </a:solidFill>
              </a:rPr>
              <a:t>Automated with GitHub Actions, Terraform, Azure Container Apps, ACR, and Trivy.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B2E2153B-F19D-4AE6-99D2-94642EEC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10700"/>
            <a:ext cx="1645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1736B"/>
                </a:solidFill>
              </a:defRPr>
            </a:pPr>
            <a:r>
              <a:rPr sz="1200">
                <a:solidFill>
                  <a:srgbClr val="61736B"/>
                </a:solidFill>
              </a:rPr>
              <a:t>RecipeOps release deck</a:t>
            </a:r>
          </a:p>
        </p:txBody>
      </p:sp>
    </p:spTree>
    <p:extLst>
      <p:ext uri="{BB962C8B-B14F-4D97-AF65-F5344CB8AC3E}">
        <p14:creationId xmlns:p14="http://schemas.microsoft.com/office/powerpoint/2010/main" val="83619018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5B6403DA-59EB-43EE-A7B9-57A83122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2247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F2528"/>
                </a:solidFill>
              </a:defRPr>
            </a:pPr>
            <a:r>
              <a:rPr sz="4650" b="1">
                <a:solidFill>
                  <a:srgbClr val="1F2528"/>
                </a:solidFill>
              </a:rPr>
              <a:t>Pipeline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89497B34-521E-4A2B-BC65-AAEC7D11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62100"/>
            <a:ext cx="266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F3A"/>
          </a:solidFill>
          <a:ln xmlns:a="http://schemas.openxmlformats.org/drawingml/2006/main" w="0">
            <a:solidFill>
              <a:srgbClr val="B45F3A"/>
            </a:solidFill>
            <a:prstDash val="solid"/>
          </a:ln>
        </p:spPr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1CC0D9A-7A84-4AFF-9294-2F2AEBBB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112585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1736B"/>
                </a:solidFill>
              </a:defRPr>
            </a:pPr>
            <a:r>
              <a:rPr sz="1950">
                <a:solidFill>
                  <a:srgbClr val="61736B"/>
                </a:solidFill>
              </a:rPr>
              <a:t>Pull requests prove quality; main branch releases build immutable images and update Azure revisions.</a:t>
            </a:r>
          </a:p>
        </p:txBody>
      </p:sp>
      <p:sp>
        <p:nvSpPr>
          <p:cNvPr id="4" name="point-0">
            <a:extLst xmlns:a="http://schemas.openxmlformats.org/drawingml/2006/main">
              <a:ext uri="{FF2B5EF4-FFF2-40B4-BE49-F238E27FC236}">
                <a16:creationId xmlns:a16="http://schemas.microsoft.com/office/drawing/2014/main" id="{946B30DF-2D64-4B9F-AE2F-8886C555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9870"/>
            <a:ext cx="9113520" cy="69342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5" name="point-text-0">
            <a:extLst xmlns:a="http://schemas.openxmlformats.org/drawingml/2006/main">
              <a:ext uri="{FF2B5EF4-FFF2-40B4-BE49-F238E27FC236}">
                <a16:creationId xmlns:a16="http://schemas.microsoft.com/office/drawing/2014/main" id="{D7045BC5-AF78-4AA0-8819-4449E6FD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71800"/>
            <a:ext cx="857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F2528"/>
                </a:solidFill>
              </a:defRPr>
            </a:pPr>
            <a:r>
              <a:rPr sz="1800">
                <a:solidFill>
                  <a:srgbClr val="1F2528"/>
                </a:solidFill>
              </a:rPr>
              <a:t>Node and Python tests run independently.</a:t>
            </a:r>
          </a:p>
        </p:txBody>
      </p:sp>
      <p:sp>
        <p:nvSpPr>
          <p:cNvPr id="6" name="point-1">
            <a:extLst xmlns:a="http://schemas.openxmlformats.org/drawingml/2006/main">
              <a:ext uri="{FF2B5EF4-FFF2-40B4-BE49-F238E27FC236}">
                <a16:creationId xmlns:a16="http://schemas.microsoft.com/office/drawing/2014/main" id="{6B03672B-93F5-4E5F-B453-9811732A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3790"/>
            <a:ext cx="9113520" cy="69342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7" name="point-text-1">
            <a:extLst xmlns:a="http://schemas.openxmlformats.org/drawingml/2006/main">
              <a:ext uri="{FF2B5EF4-FFF2-40B4-BE49-F238E27FC236}">
                <a16:creationId xmlns:a16="http://schemas.microsoft.com/office/drawing/2014/main" id="{12B3CC48-0F48-498E-ABC0-291DB4A1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67150"/>
            <a:ext cx="857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F2528"/>
                </a:solidFill>
              </a:defRPr>
            </a:pPr>
            <a:r>
              <a:rPr sz="1800">
                <a:solidFill>
                  <a:srgbClr val="1F2528"/>
                </a:solidFill>
              </a:rPr>
              <a:t>Each service image is built from its own Dockerfile.</a:t>
            </a:r>
          </a:p>
        </p:txBody>
      </p:sp>
      <p:sp>
        <p:nvSpPr>
          <p:cNvPr id="8" name="point-2">
            <a:extLst xmlns:a="http://schemas.openxmlformats.org/drawingml/2006/main">
              <a:ext uri="{FF2B5EF4-FFF2-40B4-BE49-F238E27FC236}">
                <a16:creationId xmlns:a16="http://schemas.microsoft.com/office/drawing/2014/main" id="{9046AFAE-3C88-4E52-96BD-4A8A85AE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7710"/>
            <a:ext cx="9113520" cy="69342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9" name="point-text-2">
            <a:extLst xmlns:a="http://schemas.openxmlformats.org/drawingml/2006/main">
              <a:ext uri="{FF2B5EF4-FFF2-40B4-BE49-F238E27FC236}">
                <a16:creationId xmlns:a16="http://schemas.microsoft.com/office/drawing/2014/main" id="{D574AE98-56DE-40C7-8FFF-E1051E35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43450"/>
            <a:ext cx="857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F2528"/>
                </a:solidFill>
              </a:defRPr>
            </a:pPr>
            <a:r>
              <a:rPr sz="1800">
                <a:solidFill>
                  <a:srgbClr val="1F2528"/>
                </a:solidFill>
              </a:rPr>
              <a:t>Trivy blocks high and critical vulnerabilities.</a:t>
            </a:r>
          </a:p>
        </p:txBody>
      </p:sp>
      <p:sp>
        <p:nvSpPr>
          <p:cNvPr id="10" name="signal">
            <a:extLst xmlns:a="http://schemas.openxmlformats.org/drawingml/2006/main">
              <a:ext uri="{FF2B5EF4-FFF2-40B4-BE49-F238E27FC236}">
                <a16:creationId xmlns:a16="http://schemas.microsoft.com/office/drawing/2014/main" id="{9B2FF30D-764B-4A2C-A316-EBE5D3C7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520" y="2769870"/>
            <a:ext cx="6736080" cy="6267450"/>
          </a:xfrm>
          <a:prstGeom xmlns:a="http://schemas.openxmlformats.org/drawingml/2006/main" prst="roundRect">
            <a:avLst>
              <a:gd name="adj" fmla="val 1216"/>
            </a:avLst>
          </a:prstGeom>
          <a:solidFill xmlns:a="http://schemas.openxmlformats.org/drawingml/2006/main">
            <a:srgbClr val="B45F3A"/>
          </a:solidFill>
        </p:spPr>
      </p:sp>
      <p:sp>
        <p:nvSpPr>
          <p:cNvPr id="11" name="brand">
            <a:extLst xmlns:a="http://schemas.openxmlformats.org/drawingml/2006/main">
              <a:ext uri="{FF2B5EF4-FFF2-40B4-BE49-F238E27FC236}">
                <a16:creationId xmlns:a16="http://schemas.microsoft.com/office/drawing/2014/main" id="{1C4F0D99-24A4-4837-93D9-921E850B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162300"/>
            <a:ext cx="5943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RecipeOps</a:t>
            </a:r>
          </a:p>
        </p:txBody>
      </p:sp>
      <p:sp>
        <p:nvSpPr>
          <p:cNvPr id="12" name="divider">
            <a:extLst xmlns:a="http://schemas.openxmlformats.org/drawingml/2006/main">
              <a:ext uri="{FF2B5EF4-FFF2-40B4-BE49-F238E27FC236}">
                <a16:creationId xmlns:a16="http://schemas.microsoft.com/office/drawing/2014/main" id="{9B6F315F-147C-4EA3-8E08-5B17854E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962400"/>
            <a:ext cx="5943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3" name="stack">
            <a:extLst xmlns:a="http://schemas.openxmlformats.org/drawingml/2006/main">
              <a:ext uri="{FF2B5EF4-FFF2-40B4-BE49-F238E27FC236}">
                <a16:creationId xmlns:a16="http://schemas.microsoft.com/office/drawing/2014/main" id="{8A61C625-DF15-4C68-90F5-8467CD3C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191000"/>
            <a:ext cx="5943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7FBF9"/>
                </a:solidFill>
              </a:defRPr>
            </a:pPr>
            <a:r>
              <a:rPr sz="2250">
                <a:solidFill>
                  <a:srgbClr val="F7FBF9"/>
                </a:solidFill>
              </a:rPr>
              <a:t>frontend + catalog API + recommendation API + PostgreSQL</a:t>
            </a:r>
          </a:p>
        </p:txBody>
      </p:sp>
      <p:sp>
        <p:nvSpPr>
          <p:cNvPr id="14" name="tools">
            <a:extLst xmlns:a="http://schemas.openxmlformats.org/drawingml/2006/main">
              <a:ext uri="{FF2B5EF4-FFF2-40B4-BE49-F238E27FC236}">
                <a16:creationId xmlns:a16="http://schemas.microsoft.com/office/drawing/2014/main" id="{EDE8B6CD-096C-4CC4-B0AC-527DB035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105400"/>
            <a:ext cx="5943600" cy="3543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E5F0EC"/>
                </a:solidFill>
              </a:defRPr>
            </a:pPr>
            <a:r>
              <a:rPr sz="1725">
                <a:solidFill>
                  <a:srgbClr val="E5F0EC"/>
                </a:solidFill>
              </a:rPr>
              <a:t>Automated with GitHub Actions, Terraform, Azure Container Apps, ACR, and Trivy.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937BAB66-0AE3-4279-8079-C2D19920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10700"/>
            <a:ext cx="1645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1736B"/>
                </a:solidFill>
              </a:defRPr>
            </a:pPr>
            <a:r>
              <a:rPr sz="1200">
                <a:solidFill>
                  <a:srgbClr val="61736B"/>
                </a:solidFill>
              </a:rPr>
              <a:t>RecipeOps release deck</a:t>
            </a:r>
          </a:p>
        </p:txBody>
      </p:sp>
    </p:spTree>
    <p:extLst>
      <p:ext uri="{BB962C8B-B14F-4D97-AF65-F5344CB8AC3E}">
        <p14:creationId xmlns:p14="http://schemas.microsoft.com/office/powerpoint/2010/main" val="131438118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A232C94A-7906-4C68-9BC7-B47044B3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63246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F2528"/>
                </a:solidFill>
              </a:defRPr>
            </a:pPr>
            <a:r>
              <a:rPr sz="4650" b="1">
                <a:solidFill>
                  <a:srgbClr val="1F2528"/>
                </a:solidFill>
              </a:rPr>
              <a:t>Infrastructure as Code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39EE22F4-4CD6-4F79-BF62-5364F4BD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266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62F"/>
          </a:solidFill>
          <a:ln xmlns:a="http://schemas.openxmlformats.org/drawingml/2006/main" w="0">
            <a:solidFill>
              <a:srgbClr val="25362F"/>
            </a:solidFill>
            <a:prstDash val="solid"/>
          </a:ln>
        </p:spPr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A0AC1A6-1A43-4A44-9004-592979E5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11525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1736B"/>
                </a:solidFill>
              </a:defRPr>
            </a:pPr>
            <a:r>
              <a:rPr sz="1950">
                <a:solidFill>
                  <a:srgbClr val="61736B"/>
                </a:solidFill>
              </a:rPr>
              <a:t>Terraform provisions all release infrastructure so environments can be destroyed and rebuilt consistently.</a:t>
            </a:r>
          </a:p>
        </p:txBody>
      </p:sp>
      <p:sp>
        <p:nvSpPr>
          <p:cNvPr id="4" name="point-0">
            <a:extLst xmlns:a="http://schemas.openxmlformats.org/drawingml/2006/main">
              <a:ext uri="{FF2B5EF4-FFF2-40B4-BE49-F238E27FC236}">
                <a16:creationId xmlns:a16="http://schemas.microsoft.com/office/drawing/2014/main" id="{EA0C02B8-2CE1-4983-AAAE-DBAD4944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9113520" cy="69342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5" name="point-text-0">
            <a:extLst xmlns:a="http://schemas.openxmlformats.org/drawingml/2006/main">
              <a:ext uri="{FF2B5EF4-FFF2-40B4-BE49-F238E27FC236}">
                <a16:creationId xmlns:a16="http://schemas.microsoft.com/office/drawing/2014/main" id="{C5D8976D-E16E-4613-A236-4AF459B2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90900"/>
            <a:ext cx="857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F2528"/>
                </a:solidFill>
              </a:defRPr>
            </a:pPr>
            <a:r>
              <a:rPr sz="1800">
                <a:solidFill>
                  <a:srgbClr val="1F2528"/>
                </a:solidFill>
              </a:rPr>
              <a:t>Resource group, ACR, Container Apps, PostgreSQL, and Log Analytics.</a:t>
            </a:r>
          </a:p>
        </p:txBody>
      </p:sp>
      <p:sp>
        <p:nvSpPr>
          <p:cNvPr id="6" name="point-1">
            <a:extLst xmlns:a="http://schemas.openxmlformats.org/drawingml/2006/main">
              <a:ext uri="{FF2B5EF4-FFF2-40B4-BE49-F238E27FC236}">
                <a16:creationId xmlns:a16="http://schemas.microsoft.com/office/drawing/2014/main" id="{63A41226-5587-45F6-B20F-48BD5B37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65270"/>
            <a:ext cx="9113520" cy="69342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7" name="point-text-1">
            <a:extLst xmlns:a="http://schemas.openxmlformats.org/drawingml/2006/main">
              <a:ext uri="{FF2B5EF4-FFF2-40B4-BE49-F238E27FC236}">
                <a16:creationId xmlns:a16="http://schemas.microsoft.com/office/drawing/2014/main" id="{8915010A-4195-4C37-AA1C-BEB9ECE1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857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F2528"/>
                </a:solidFill>
              </a:defRPr>
            </a:pPr>
            <a:r>
              <a:rPr sz="1800">
                <a:solidFill>
                  <a:srgbClr val="1F2528"/>
                </a:solidFill>
              </a:rPr>
              <a:t>Environment-specific variables support dev and prod.</a:t>
            </a:r>
          </a:p>
        </p:txBody>
      </p:sp>
      <p:sp>
        <p:nvSpPr>
          <p:cNvPr id="8" name="point-2">
            <a:extLst xmlns:a="http://schemas.openxmlformats.org/drawingml/2006/main">
              <a:ext uri="{FF2B5EF4-FFF2-40B4-BE49-F238E27FC236}">
                <a16:creationId xmlns:a16="http://schemas.microsoft.com/office/drawing/2014/main" id="{2A396529-EDDF-4FE2-A657-0C68C806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49190"/>
            <a:ext cx="9113520" cy="69342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9" name="point-text-2">
            <a:extLst xmlns:a="http://schemas.openxmlformats.org/drawingml/2006/main">
              <a:ext uri="{FF2B5EF4-FFF2-40B4-BE49-F238E27FC236}">
                <a16:creationId xmlns:a16="http://schemas.microsoft.com/office/drawing/2014/main" id="{A50D3E9A-F7EB-49A2-AE18-131ACD88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62550"/>
            <a:ext cx="857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F2528"/>
                </a:solidFill>
              </a:defRPr>
            </a:pPr>
            <a:r>
              <a:rPr sz="1800">
                <a:solidFill>
                  <a:srgbClr val="1F2528"/>
                </a:solidFill>
              </a:rPr>
              <a:t>State should be moved to Azure Storage for team operation.</a:t>
            </a:r>
          </a:p>
        </p:txBody>
      </p:sp>
      <p:sp>
        <p:nvSpPr>
          <p:cNvPr id="10" name="signal">
            <a:extLst xmlns:a="http://schemas.openxmlformats.org/drawingml/2006/main">
              <a:ext uri="{FF2B5EF4-FFF2-40B4-BE49-F238E27FC236}">
                <a16:creationId xmlns:a16="http://schemas.microsoft.com/office/drawing/2014/main" id="{BC778582-6483-4A1A-B10E-BE040AB7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520" y="3181350"/>
            <a:ext cx="6736080" cy="5855970"/>
          </a:xfrm>
          <a:prstGeom xmlns:a="http://schemas.openxmlformats.org/drawingml/2006/main" prst="roundRect">
            <a:avLst>
              <a:gd name="adj" fmla="val 1301"/>
            </a:avLst>
          </a:prstGeom>
          <a:solidFill xmlns:a="http://schemas.openxmlformats.org/drawingml/2006/main">
            <a:srgbClr val="25362F"/>
          </a:solidFill>
        </p:spPr>
      </p:sp>
      <p:sp>
        <p:nvSpPr>
          <p:cNvPr id="11" name="brand">
            <a:extLst xmlns:a="http://schemas.openxmlformats.org/drawingml/2006/main">
              <a:ext uri="{FF2B5EF4-FFF2-40B4-BE49-F238E27FC236}">
                <a16:creationId xmlns:a16="http://schemas.microsoft.com/office/drawing/2014/main" id="{0F91632F-7062-4043-9EE3-BF909B1F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581400"/>
            <a:ext cx="5943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RecipeOps</a:t>
            </a:r>
          </a:p>
        </p:txBody>
      </p:sp>
      <p:sp>
        <p:nvSpPr>
          <p:cNvPr id="12" name="divider">
            <a:extLst xmlns:a="http://schemas.openxmlformats.org/drawingml/2006/main">
              <a:ext uri="{FF2B5EF4-FFF2-40B4-BE49-F238E27FC236}">
                <a16:creationId xmlns:a16="http://schemas.microsoft.com/office/drawing/2014/main" id="{16896C58-1ACF-4143-AA21-991E136E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43400"/>
            <a:ext cx="5943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3" name="stack">
            <a:extLst xmlns:a="http://schemas.openxmlformats.org/drawingml/2006/main">
              <a:ext uri="{FF2B5EF4-FFF2-40B4-BE49-F238E27FC236}">
                <a16:creationId xmlns:a16="http://schemas.microsoft.com/office/drawing/2014/main" id="{FD6C0EFB-A9D0-4474-971D-08F4FE5E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610100"/>
            <a:ext cx="5943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7FBF9"/>
                </a:solidFill>
              </a:defRPr>
            </a:pPr>
            <a:r>
              <a:rPr sz="2250">
                <a:solidFill>
                  <a:srgbClr val="F7FBF9"/>
                </a:solidFill>
              </a:rPr>
              <a:t>frontend + catalog API + recommendation API + PostgreSQL</a:t>
            </a:r>
          </a:p>
        </p:txBody>
      </p:sp>
      <p:sp>
        <p:nvSpPr>
          <p:cNvPr id="14" name="tools">
            <a:extLst xmlns:a="http://schemas.openxmlformats.org/drawingml/2006/main">
              <a:ext uri="{FF2B5EF4-FFF2-40B4-BE49-F238E27FC236}">
                <a16:creationId xmlns:a16="http://schemas.microsoft.com/office/drawing/2014/main" id="{6E27DDC9-D497-4EE4-9EA9-8366B9F4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524500"/>
            <a:ext cx="5943600" cy="3124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E5F0EC"/>
                </a:solidFill>
              </a:defRPr>
            </a:pPr>
            <a:r>
              <a:rPr sz="1725">
                <a:solidFill>
                  <a:srgbClr val="E5F0EC"/>
                </a:solidFill>
              </a:rPr>
              <a:t>Automated with GitHub Actions, Terraform, Azure Container Apps, ACR, and Trivy.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9F4272E1-75B0-4FF0-86F2-6E641CE2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10700"/>
            <a:ext cx="1645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1736B"/>
                </a:solidFill>
              </a:defRPr>
            </a:pPr>
            <a:r>
              <a:rPr sz="1200">
                <a:solidFill>
                  <a:srgbClr val="61736B"/>
                </a:solidFill>
              </a:rPr>
              <a:t>RecipeOps release deck</a:t>
            </a:r>
          </a:p>
        </p:txBody>
      </p:sp>
    </p:spTree>
    <p:extLst>
      <p:ext uri="{BB962C8B-B14F-4D97-AF65-F5344CB8AC3E}">
        <p14:creationId xmlns:p14="http://schemas.microsoft.com/office/powerpoint/2010/main" val="3718002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9B57E2FC-093A-49CB-8937-4FD86552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47815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F2528"/>
                </a:solidFill>
              </a:defRPr>
            </a:pPr>
            <a:r>
              <a:rPr sz="4650" b="1">
                <a:solidFill>
                  <a:srgbClr val="1F2528"/>
                </a:solidFill>
              </a:rPr>
              <a:t>Release Strategy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BC0DB7FD-5246-4832-B743-07C1735C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266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72"/>
          </a:solidFill>
          <a:ln xmlns:a="http://schemas.openxmlformats.org/drawingml/2006/main" w="0">
            <a:solidFill>
              <a:srgbClr val="315C72"/>
            </a:solidFill>
            <a:prstDash val="solid"/>
          </a:ln>
        </p:spPr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A549888-8C40-4D68-B29B-03C979F8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10001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1736B"/>
                </a:solidFill>
              </a:defRPr>
            </a:pPr>
            <a:r>
              <a:rPr sz="1950">
                <a:solidFill>
                  <a:srgbClr val="61736B"/>
                </a:solidFill>
              </a:rPr>
              <a:t>Azure Container Apps multiple revision mode supports blue/green rollout and fast rollback.</a:t>
            </a:r>
          </a:p>
        </p:txBody>
      </p:sp>
      <p:sp>
        <p:nvSpPr>
          <p:cNvPr id="4" name="point-0">
            <a:extLst xmlns:a="http://schemas.openxmlformats.org/drawingml/2006/main">
              <a:ext uri="{FF2B5EF4-FFF2-40B4-BE49-F238E27FC236}">
                <a16:creationId xmlns:a16="http://schemas.microsoft.com/office/drawing/2014/main" id="{5B731480-B785-49A0-AB16-4914D21D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78530"/>
            <a:ext cx="9113520" cy="69342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5" name="point-text-0">
            <a:extLst xmlns:a="http://schemas.openxmlformats.org/drawingml/2006/main">
              <a:ext uri="{FF2B5EF4-FFF2-40B4-BE49-F238E27FC236}">
                <a16:creationId xmlns:a16="http://schemas.microsoft.com/office/drawing/2014/main" id="{1C068A58-81F0-4219-B85A-7A16EF60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95700"/>
            <a:ext cx="857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F2528"/>
                </a:solidFill>
              </a:defRPr>
            </a:pPr>
            <a:r>
              <a:rPr sz="1800">
                <a:solidFill>
                  <a:srgbClr val="1F2528"/>
                </a:solidFill>
              </a:rPr>
              <a:t>Images are tagged with the Git commit SHA.</a:t>
            </a:r>
          </a:p>
        </p:txBody>
      </p:sp>
      <p:sp>
        <p:nvSpPr>
          <p:cNvPr id="6" name="point-1">
            <a:extLst xmlns:a="http://schemas.openxmlformats.org/drawingml/2006/main">
              <a:ext uri="{FF2B5EF4-FFF2-40B4-BE49-F238E27FC236}">
                <a16:creationId xmlns:a16="http://schemas.microsoft.com/office/drawing/2014/main" id="{81D8A85E-B8A8-4270-A66E-409A87F2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9113520" cy="69342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7" name="point-text-1">
            <a:extLst xmlns:a="http://schemas.openxmlformats.org/drawingml/2006/main">
              <a:ext uri="{FF2B5EF4-FFF2-40B4-BE49-F238E27FC236}">
                <a16:creationId xmlns:a16="http://schemas.microsoft.com/office/drawing/2014/main" id="{B6DBB23C-E983-4D27-983E-53CD478A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72000"/>
            <a:ext cx="857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F2528"/>
                </a:solidFill>
              </a:defRPr>
            </a:pPr>
            <a:r>
              <a:rPr sz="1800">
                <a:solidFill>
                  <a:srgbClr val="1F2528"/>
                </a:solidFill>
              </a:rPr>
              <a:t>Traffic can shift gradually to a new revision.</a:t>
            </a:r>
          </a:p>
        </p:txBody>
      </p:sp>
      <p:sp>
        <p:nvSpPr>
          <p:cNvPr id="8" name="point-2">
            <a:extLst xmlns:a="http://schemas.openxmlformats.org/drawingml/2006/main">
              <a:ext uri="{FF2B5EF4-FFF2-40B4-BE49-F238E27FC236}">
                <a16:creationId xmlns:a16="http://schemas.microsoft.com/office/drawing/2014/main" id="{075109B6-B40F-4FE8-B8A7-BF0529DB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46370"/>
            <a:ext cx="9113520" cy="69342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9" name="point-text-2">
            <a:extLst xmlns:a="http://schemas.openxmlformats.org/drawingml/2006/main">
              <a:ext uri="{FF2B5EF4-FFF2-40B4-BE49-F238E27FC236}">
                <a16:creationId xmlns:a16="http://schemas.microsoft.com/office/drawing/2014/main" id="{72908E7A-83F0-4896-AFAA-80CFADDD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48300"/>
            <a:ext cx="857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F2528"/>
                </a:solidFill>
              </a:defRPr>
            </a:pPr>
            <a:r>
              <a:rPr sz="1800">
                <a:solidFill>
                  <a:srgbClr val="1F2528"/>
                </a:solidFill>
              </a:rPr>
              <a:t>Rollback moves traffic back to the last healthy revision.</a:t>
            </a:r>
          </a:p>
        </p:txBody>
      </p:sp>
      <p:sp>
        <p:nvSpPr>
          <p:cNvPr id="10" name="signal">
            <a:extLst xmlns:a="http://schemas.openxmlformats.org/drawingml/2006/main">
              <a:ext uri="{FF2B5EF4-FFF2-40B4-BE49-F238E27FC236}">
                <a16:creationId xmlns:a16="http://schemas.microsoft.com/office/drawing/2014/main" id="{97AED3DF-D3AC-47A4-9B23-44D8C162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520" y="3478530"/>
            <a:ext cx="6736080" cy="5558790"/>
          </a:xfrm>
          <a:prstGeom xmlns:a="http://schemas.openxmlformats.org/drawingml/2006/main" prst="roundRect">
            <a:avLst>
              <a:gd name="adj" fmla="val 1371"/>
            </a:avLst>
          </a:prstGeom>
          <a:solidFill xmlns:a="http://schemas.openxmlformats.org/drawingml/2006/main">
            <a:srgbClr val="315C72"/>
          </a:solidFill>
        </p:spPr>
      </p:sp>
      <p:sp>
        <p:nvSpPr>
          <p:cNvPr id="11" name="brand">
            <a:extLst xmlns:a="http://schemas.openxmlformats.org/drawingml/2006/main">
              <a:ext uri="{FF2B5EF4-FFF2-40B4-BE49-F238E27FC236}">
                <a16:creationId xmlns:a16="http://schemas.microsoft.com/office/drawing/2014/main" id="{D515DEA0-85C9-4930-88A3-017987CD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886200"/>
            <a:ext cx="5943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RecipeOps</a:t>
            </a:r>
          </a:p>
        </p:txBody>
      </p:sp>
      <p:sp>
        <p:nvSpPr>
          <p:cNvPr id="12" name="divider">
            <a:extLst xmlns:a="http://schemas.openxmlformats.org/drawingml/2006/main">
              <a:ext uri="{FF2B5EF4-FFF2-40B4-BE49-F238E27FC236}">
                <a16:creationId xmlns:a16="http://schemas.microsoft.com/office/drawing/2014/main" id="{C98AEEF6-DFBD-4B50-ADFD-517350CB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48200"/>
            <a:ext cx="5943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3" name="stack">
            <a:extLst xmlns:a="http://schemas.openxmlformats.org/drawingml/2006/main">
              <a:ext uri="{FF2B5EF4-FFF2-40B4-BE49-F238E27FC236}">
                <a16:creationId xmlns:a16="http://schemas.microsoft.com/office/drawing/2014/main" id="{F05D7C7B-E26C-4003-B92D-24728D32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895850"/>
            <a:ext cx="5943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7FBF9"/>
                </a:solidFill>
              </a:defRPr>
            </a:pPr>
            <a:r>
              <a:rPr sz="2250">
                <a:solidFill>
                  <a:srgbClr val="F7FBF9"/>
                </a:solidFill>
              </a:rPr>
              <a:t>frontend + catalog API + recommendation API + PostgreSQL</a:t>
            </a:r>
          </a:p>
        </p:txBody>
      </p:sp>
      <p:sp>
        <p:nvSpPr>
          <p:cNvPr id="14" name="tools">
            <a:extLst xmlns:a="http://schemas.openxmlformats.org/drawingml/2006/main">
              <a:ext uri="{FF2B5EF4-FFF2-40B4-BE49-F238E27FC236}">
                <a16:creationId xmlns:a16="http://schemas.microsoft.com/office/drawing/2014/main" id="{5F8FA557-6F70-4DA9-94EF-A0BA17F3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810250"/>
            <a:ext cx="5943600" cy="281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E5F0EC"/>
                </a:solidFill>
              </a:defRPr>
            </a:pPr>
            <a:r>
              <a:rPr sz="1725">
                <a:solidFill>
                  <a:srgbClr val="E5F0EC"/>
                </a:solidFill>
              </a:rPr>
              <a:t>Automated with GitHub Actions, Terraform, Azure Container Apps, ACR, and Trivy.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11E896BE-A4C2-44A2-A2DF-9FF17948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10700"/>
            <a:ext cx="1645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1736B"/>
                </a:solidFill>
              </a:defRPr>
            </a:pPr>
            <a:r>
              <a:rPr sz="1200">
                <a:solidFill>
                  <a:srgbClr val="61736B"/>
                </a:solidFill>
              </a:rPr>
              <a:t>RecipeOps release deck</a:t>
            </a:r>
          </a:p>
        </p:txBody>
      </p:sp>
    </p:spTree>
    <p:extLst>
      <p:ext uri="{BB962C8B-B14F-4D97-AF65-F5344CB8AC3E}">
        <p14:creationId xmlns:p14="http://schemas.microsoft.com/office/powerpoint/2010/main" val="79540298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9A86315A-90F1-4FD5-9DE8-3898A98C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31242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F2528"/>
                </a:solidFill>
              </a:defRPr>
            </a:pPr>
            <a:r>
              <a:rPr sz="4650" b="1">
                <a:solidFill>
                  <a:srgbClr val="1F2528"/>
                </a:solidFill>
              </a:rPr>
              <a:t>Operations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217417FA-40EB-4E91-BBF7-E3B588C3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266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F3A"/>
          </a:solidFill>
          <a:ln xmlns:a="http://schemas.openxmlformats.org/drawingml/2006/main" w="0">
            <a:solidFill>
              <a:srgbClr val="B45F3A"/>
            </a:solidFill>
            <a:prstDash val="solid"/>
          </a:ln>
        </p:spPr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725E378-42D2-45E8-BCE6-7237E89A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88963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1736B"/>
                </a:solidFill>
              </a:defRPr>
            </a:pPr>
            <a:r>
              <a:rPr sz="1950">
                <a:solidFill>
                  <a:srgbClr val="61736B"/>
                </a:solidFill>
              </a:rPr>
              <a:t>The plan covers monitoring, scaling, security, backup, restore, and sustainability.</a:t>
            </a:r>
          </a:p>
        </p:txBody>
      </p:sp>
      <p:sp>
        <p:nvSpPr>
          <p:cNvPr id="4" name="point-0">
            <a:extLst xmlns:a="http://schemas.openxmlformats.org/drawingml/2006/main">
              <a:ext uri="{FF2B5EF4-FFF2-40B4-BE49-F238E27FC236}">
                <a16:creationId xmlns:a16="http://schemas.microsoft.com/office/drawing/2014/main" id="{E462BCAE-4E95-4329-BEC6-EA60E2F0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78530"/>
            <a:ext cx="9113520" cy="69342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5" name="point-text-0">
            <a:extLst xmlns:a="http://schemas.openxmlformats.org/drawingml/2006/main">
              <a:ext uri="{FF2B5EF4-FFF2-40B4-BE49-F238E27FC236}">
                <a16:creationId xmlns:a16="http://schemas.microsoft.com/office/drawing/2014/main" id="{C4F42845-4630-429B-8EEB-78BBF7A5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95700"/>
            <a:ext cx="857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F2528"/>
                </a:solidFill>
              </a:defRPr>
            </a:pPr>
            <a:r>
              <a:rPr sz="1800">
                <a:solidFill>
                  <a:srgbClr val="1F2528"/>
                </a:solidFill>
              </a:rPr>
              <a:t>Log Analytics collects Container Apps logs.</a:t>
            </a:r>
          </a:p>
        </p:txBody>
      </p:sp>
      <p:sp>
        <p:nvSpPr>
          <p:cNvPr id="6" name="point-1">
            <a:extLst xmlns:a="http://schemas.openxmlformats.org/drawingml/2006/main">
              <a:ext uri="{FF2B5EF4-FFF2-40B4-BE49-F238E27FC236}">
                <a16:creationId xmlns:a16="http://schemas.microsoft.com/office/drawing/2014/main" id="{5F2F9372-B4ED-4771-99E5-A80954A5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9113520" cy="69342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7" name="point-text-1">
            <a:extLst xmlns:a="http://schemas.openxmlformats.org/drawingml/2006/main">
              <a:ext uri="{FF2B5EF4-FFF2-40B4-BE49-F238E27FC236}">
                <a16:creationId xmlns:a16="http://schemas.microsoft.com/office/drawing/2014/main" id="{BBB9DE90-9D23-4A78-AF91-96DC72EB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72000"/>
            <a:ext cx="857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F2528"/>
                </a:solidFill>
              </a:defRPr>
            </a:pPr>
            <a:r>
              <a:rPr sz="1800">
                <a:solidFill>
                  <a:srgbClr val="1F2528"/>
                </a:solidFill>
              </a:rPr>
              <a:t>Health endpoints validate service availability.</a:t>
            </a:r>
          </a:p>
        </p:txBody>
      </p:sp>
      <p:sp>
        <p:nvSpPr>
          <p:cNvPr id="8" name="point-2">
            <a:extLst xmlns:a="http://schemas.openxmlformats.org/drawingml/2006/main">
              <a:ext uri="{FF2B5EF4-FFF2-40B4-BE49-F238E27FC236}">
                <a16:creationId xmlns:a16="http://schemas.microsoft.com/office/drawing/2014/main" id="{E9CBAC44-91F4-4E8F-840C-A3EFD942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46370"/>
            <a:ext cx="9113520" cy="69342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9" name="point-text-2">
            <a:extLst xmlns:a="http://schemas.openxmlformats.org/drawingml/2006/main">
              <a:ext uri="{FF2B5EF4-FFF2-40B4-BE49-F238E27FC236}">
                <a16:creationId xmlns:a16="http://schemas.microsoft.com/office/drawing/2014/main" id="{46C143DA-2039-4BD5-A1D8-E9CADBC7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48300"/>
            <a:ext cx="857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F2528"/>
                </a:solidFill>
              </a:defRPr>
            </a:pPr>
            <a:r>
              <a:rPr sz="1800">
                <a:solidFill>
                  <a:srgbClr val="1F2528"/>
                </a:solidFill>
              </a:rPr>
              <a:t>PostgreSQL automated backups support point-in-time recovery.</a:t>
            </a:r>
          </a:p>
        </p:txBody>
      </p:sp>
      <p:sp>
        <p:nvSpPr>
          <p:cNvPr id="10" name="signal">
            <a:extLst xmlns:a="http://schemas.openxmlformats.org/drawingml/2006/main">
              <a:ext uri="{FF2B5EF4-FFF2-40B4-BE49-F238E27FC236}">
                <a16:creationId xmlns:a16="http://schemas.microsoft.com/office/drawing/2014/main" id="{1A01B70A-71B3-4E07-9B3B-59111CA9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520" y="3478530"/>
            <a:ext cx="6736080" cy="5558790"/>
          </a:xfrm>
          <a:prstGeom xmlns:a="http://schemas.openxmlformats.org/drawingml/2006/main" prst="roundRect">
            <a:avLst>
              <a:gd name="adj" fmla="val 1371"/>
            </a:avLst>
          </a:prstGeom>
          <a:solidFill xmlns:a="http://schemas.openxmlformats.org/drawingml/2006/main">
            <a:srgbClr val="B45F3A"/>
          </a:solidFill>
        </p:spPr>
      </p:sp>
      <p:sp>
        <p:nvSpPr>
          <p:cNvPr id="11" name="brand">
            <a:extLst xmlns:a="http://schemas.openxmlformats.org/drawingml/2006/main">
              <a:ext uri="{FF2B5EF4-FFF2-40B4-BE49-F238E27FC236}">
                <a16:creationId xmlns:a16="http://schemas.microsoft.com/office/drawing/2014/main" id="{4E7CE657-9A3E-4A10-9AEC-99B689FE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886200"/>
            <a:ext cx="5943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RecipeOps</a:t>
            </a:r>
          </a:p>
        </p:txBody>
      </p:sp>
      <p:sp>
        <p:nvSpPr>
          <p:cNvPr id="12" name="divider">
            <a:extLst xmlns:a="http://schemas.openxmlformats.org/drawingml/2006/main">
              <a:ext uri="{FF2B5EF4-FFF2-40B4-BE49-F238E27FC236}">
                <a16:creationId xmlns:a16="http://schemas.microsoft.com/office/drawing/2014/main" id="{9D441DB3-61F0-43F9-BA9F-B19C9B60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48200"/>
            <a:ext cx="5943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3" name="stack">
            <a:extLst xmlns:a="http://schemas.openxmlformats.org/drawingml/2006/main">
              <a:ext uri="{FF2B5EF4-FFF2-40B4-BE49-F238E27FC236}">
                <a16:creationId xmlns:a16="http://schemas.microsoft.com/office/drawing/2014/main" id="{D1D58195-99B2-4F9E-9E12-5238AB4F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895850"/>
            <a:ext cx="5943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7FBF9"/>
                </a:solidFill>
              </a:defRPr>
            </a:pPr>
            <a:r>
              <a:rPr sz="2250">
                <a:solidFill>
                  <a:srgbClr val="F7FBF9"/>
                </a:solidFill>
              </a:rPr>
              <a:t>frontend + catalog API + recommendation API + PostgreSQL</a:t>
            </a:r>
          </a:p>
        </p:txBody>
      </p:sp>
      <p:sp>
        <p:nvSpPr>
          <p:cNvPr id="14" name="tools">
            <a:extLst xmlns:a="http://schemas.openxmlformats.org/drawingml/2006/main">
              <a:ext uri="{FF2B5EF4-FFF2-40B4-BE49-F238E27FC236}">
                <a16:creationId xmlns:a16="http://schemas.microsoft.com/office/drawing/2014/main" id="{3BD7A026-65E0-43FF-8966-05F34BE5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810250"/>
            <a:ext cx="5943600" cy="281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E5F0EC"/>
                </a:solidFill>
              </a:defRPr>
            </a:pPr>
            <a:r>
              <a:rPr sz="1725">
                <a:solidFill>
                  <a:srgbClr val="E5F0EC"/>
                </a:solidFill>
              </a:rPr>
              <a:t>Automated with GitHub Actions, Terraform, Azure Container Apps, ACR, and Trivy.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77D0ECDB-8EB3-4808-9B93-73EE8734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10700"/>
            <a:ext cx="1645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1736B"/>
                </a:solidFill>
              </a:defRPr>
            </a:pPr>
            <a:r>
              <a:rPr sz="1200">
                <a:solidFill>
                  <a:srgbClr val="61736B"/>
                </a:solidFill>
              </a:rPr>
              <a:t>RecipeOps release deck</a:t>
            </a:r>
          </a:p>
        </p:txBody>
      </p:sp>
    </p:spTree>
    <p:extLst>
      <p:ext uri="{BB962C8B-B14F-4D97-AF65-F5344CB8AC3E}">
        <p14:creationId xmlns:p14="http://schemas.microsoft.com/office/powerpoint/2010/main" val="16306139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9FAD1F08-E133-44CD-B2A5-4FBF1629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54673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F2528"/>
                </a:solidFill>
              </a:defRPr>
            </a:pPr>
            <a:r>
              <a:rPr sz="4650" b="1">
                <a:solidFill>
                  <a:srgbClr val="1F2528"/>
                </a:solidFill>
              </a:rPr>
              <a:t>Additional Features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F38F8950-531D-4800-9065-1C8B19FB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62100"/>
            <a:ext cx="266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62F"/>
          </a:solidFill>
          <a:ln xmlns:a="http://schemas.openxmlformats.org/drawingml/2006/main" w="0">
            <a:solidFill>
              <a:srgbClr val="25362F"/>
            </a:solidFill>
            <a:prstDash val="solid"/>
          </a:ln>
        </p:spPr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F9EFE9A-D74F-43EB-9D79-8F789125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94678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1736B"/>
                </a:solidFill>
              </a:defRPr>
            </a:pPr>
            <a:r>
              <a:rPr sz="1950">
                <a:solidFill>
                  <a:srgbClr val="61736B"/>
                </a:solidFill>
              </a:rPr>
              <a:t>The implementation includes features beyond the minimum microservice requirement.</a:t>
            </a:r>
          </a:p>
        </p:txBody>
      </p:sp>
      <p:sp>
        <p:nvSpPr>
          <p:cNvPr id="4" name="point-0">
            <a:extLst xmlns:a="http://schemas.openxmlformats.org/drawingml/2006/main">
              <a:ext uri="{FF2B5EF4-FFF2-40B4-BE49-F238E27FC236}">
                <a16:creationId xmlns:a16="http://schemas.microsoft.com/office/drawing/2014/main" id="{74599EB9-C743-4C8F-95A9-4F47341A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9870"/>
            <a:ext cx="9113520" cy="69342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5" name="point-text-0">
            <a:extLst xmlns:a="http://schemas.openxmlformats.org/drawingml/2006/main">
              <a:ext uri="{FF2B5EF4-FFF2-40B4-BE49-F238E27FC236}">
                <a16:creationId xmlns:a16="http://schemas.microsoft.com/office/drawing/2014/main" id="{1AD23F2D-0387-464C-9D17-AB57529D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71800"/>
            <a:ext cx="857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F2528"/>
                </a:solidFill>
              </a:defRPr>
            </a:pPr>
            <a:r>
              <a:rPr sz="1800">
                <a:solidFill>
                  <a:srgbClr val="1F2528"/>
                </a:solidFill>
              </a:rPr>
              <a:t>Vulnerability scanning with SARIF upload.</a:t>
            </a:r>
          </a:p>
        </p:txBody>
      </p:sp>
      <p:sp>
        <p:nvSpPr>
          <p:cNvPr id="6" name="point-1">
            <a:extLst xmlns:a="http://schemas.openxmlformats.org/drawingml/2006/main">
              <a:ext uri="{FF2B5EF4-FFF2-40B4-BE49-F238E27FC236}">
                <a16:creationId xmlns:a16="http://schemas.microsoft.com/office/drawing/2014/main" id="{5E20D456-47E2-4E2B-AC7C-D20A7705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3790"/>
            <a:ext cx="9113520" cy="69342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7" name="point-text-1">
            <a:extLst xmlns:a="http://schemas.openxmlformats.org/drawingml/2006/main">
              <a:ext uri="{FF2B5EF4-FFF2-40B4-BE49-F238E27FC236}">
                <a16:creationId xmlns:a16="http://schemas.microsoft.com/office/drawing/2014/main" id="{F72BD191-92DF-433B-A0BC-DD69195F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67150"/>
            <a:ext cx="857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F2528"/>
                </a:solidFill>
              </a:defRPr>
            </a:pPr>
            <a:r>
              <a:rPr sz="1800">
                <a:solidFill>
                  <a:srgbClr val="1F2528"/>
                </a:solidFill>
              </a:rPr>
              <a:t>Seeded migrations for repeatable local runs.</a:t>
            </a:r>
          </a:p>
        </p:txBody>
      </p:sp>
      <p:sp>
        <p:nvSpPr>
          <p:cNvPr id="8" name="point-2">
            <a:extLst xmlns:a="http://schemas.openxmlformats.org/drawingml/2006/main">
              <a:ext uri="{FF2B5EF4-FFF2-40B4-BE49-F238E27FC236}">
                <a16:creationId xmlns:a16="http://schemas.microsoft.com/office/drawing/2014/main" id="{C62E7B6B-FB12-4B60-B666-F8BD81DF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7710"/>
            <a:ext cx="9113520" cy="69342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9" name="point-text-2">
            <a:extLst xmlns:a="http://schemas.openxmlformats.org/drawingml/2006/main">
              <a:ext uri="{FF2B5EF4-FFF2-40B4-BE49-F238E27FC236}">
                <a16:creationId xmlns:a16="http://schemas.microsoft.com/office/drawing/2014/main" id="{72F2D093-4AEA-467C-8BCD-1EC48222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43450"/>
            <a:ext cx="857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F2528"/>
                </a:solidFill>
              </a:defRPr>
            </a:pPr>
            <a:r>
              <a:rPr sz="1800">
                <a:solidFill>
                  <a:srgbClr val="1F2528"/>
                </a:solidFill>
              </a:rPr>
              <a:t>Health endpoints and blue/green-capable revisions.</a:t>
            </a:r>
          </a:p>
        </p:txBody>
      </p:sp>
      <p:sp>
        <p:nvSpPr>
          <p:cNvPr id="10" name="signal">
            <a:extLst xmlns:a="http://schemas.openxmlformats.org/drawingml/2006/main">
              <a:ext uri="{FF2B5EF4-FFF2-40B4-BE49-F238E27FC236}">
                <a16:creationId xmlns:a16="http://schemas.microsoft.com/office/drawing/2014/main" id="{8524A61F-04D8-4032-B910-996822D0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520" y="2769870"/>
            <a:ext cx="6736080" cy="6267450"/>
          </a:xfrm>
          <a:prstGeom xmlns:a="http://schemas.openxmlformats.org/drawingml/2006/main" prst="roundRect">
            <a:avLst>
              <a:gd name="adj" fmla="val 1216"/>
            </a:avLst>
          </a:prstGeom>
          <a:solidFill xmlns:a="http://schemas.openxmlformats.org/drawingml/2006/main">
            <a:srgbClr val="25362F"/>
          </a:solidFill>
        </p:spPr>
      </p:sp>
      <p:sp>
        <p:nvSpPr>
          <p:cNvPr id="11" name="brand">
            <a:extLst xmlns:a="http://schemas.openxmlformats.org/drawingml/2006/main">
              <a:ext uri="{FF2B5EF4-FFF2-40B4-BE49-F238E27FC236}">
                <a16:creationId xmlns:a16="http://schemas.microsoft.com/office/drawing/2014/main" id="{BCC6B194-A2E1-4A71-A6FE-69EB50CA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162300"/>
            <a:ext cx="5943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RecipeOps</a:t>
            </a:r>
          </a:p>
        </p:txBody>
      </p:sp>
      <p:sp>
        <p:nvSpPr>
          <p:cNvPr id="12" name="divider">
            <a:extLst xmlns:a="http://schemas.openxmlformats.org/drawingml/2006/main">
              <a:ext uri="{FF2B5EF4-FFF2-40B4-BE49-F238E27FC236}">
                <a16:creationId xmlns:a16="http://schemas.microsoft.com/office/drawing/2014/main" id="{B301B88B-077C-493A-A23C-E9B7771A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962400"/>
            <a:ext cx="5943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3" name="stack">
            <a:extLst xmlns:a="http://schemas.openxmlformats.org/drawingml/2006/main">
              <a:ext uri="{FF2B5EF4-FFF2-40B4-BE49-F238E27FC236}">
                <a16:creationId xmlns:a16="http://schemas.microsoft.com/office/drawing/2014/main" id="{D3885950-246F-40D5-989A-59D36BD8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191000"/>
            <a:ext cx="5943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7FBF9"/>
                </a:solidFill>
              </a:defRPr>
            </a:pPr>
            <a:r>
              <a:rPr sz="2250">
                <a:solidFill>
                  <a:srgbClr val="F7FBF9"/>
                </a:solidFill>
              </a:rPr>
              <a:t>frontend + catalog API + recommendation API + PostgreSQL</a:t>
            </a:r>
          </a:p>
        </p:txBody>
      </p:sp>
      <p:sp>
        <p:nvSpPr>
          <p:cNvPr id="14" name="tools">
            <a:extLst xmlns:a="http://schemas.openxmlformats.org/drawingml/2006/main">
              <a:ext uri="{FF2B5EF4-FFF2-40B4-BE49-F238E27FC236}">
                <a16:creationId xmlns:a16="http://schemas.microsoft.com/office/drawing/2014/main" id="{8F782907-3CA0-4E76-BE59-05BC97BA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105400"/>
            <a:ext cx="5943600" cy="3543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E5F0EC"/>
                </a:solidFill>
              </a:defRPr>
            </a:pPr>
            <a:r>
              <a:rPr sz="1725">
                <a:solidFill>
                  <a:srgbClr val="E5F0EC"/>
                </a:solidFill>
              </a:rPr>
              <a:t>Automated with GitHub Actions, Terraform, Azure Container Apps, ACR, and Trivy.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DAA69F86-EA43-4A06-897B-A796110E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10700"/>
            <a:ext cx="1645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1736B"/>
                </a:solidFill>
              </a:defRPr>
            </a:pPr>
            <a:r>
              <a:rPr sz="1200">
                <a:solidFill>
                  <a:srgbClr val="61736B"/>
                </a:solidFill>
              </a:rPr>
              <a:t>RecipeOps release deck</a:t>
            </a:r>
          </a:p>
        </p:txBody>
      </p:sp>
    </p:spTree>
    <p:extLst>
      <p:ext uri="{BB962C8B-B14F-4D97-AF65-F5344CB8AC3E}">
        <p14:creationId xmlns:p14="http://schemas.microsoft.com/office/powerpoint/2010/main" val="3234729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4E4DA46B-E30D-4709-9FD2-B3F12950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31813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F2528"/>
                </a:solidFill>
              </a:defRPr>
            </a:pPr>
            <a:r>
              <a:rPr sz="4650" b="1">
                <a:solidFill>
                  <a:srgbClr val="1F2528"/>
                </a:solidFill>
              </a:rPr>
              <a:t>Demo Flow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F6105219-B02E-4468-BA5F-D8D4C09D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266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72"/>
          </a:solidFill>
          <a:ln xmlns:a="http://schemas.openxmlformats.org/drawingml/2006/main" w="0">
            <a:solidFill>
              <a:srgbClr val="315C72"/>
            </a:solidFill>
            <a:prstDash val="solid"/>
          </a:ln>
        </p:spPr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80554B9-16A9-43A1-9A03-5C161640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96583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1736B"/>
                </a:solidFill>
              </a:defRPr>
            </a:pPr>
            <a:r>
              <a:rPr sz="1950">
                <a:solidFill>
                  <a:srgbClr val="61736B"/>
                </a:solidFill>
              </a:rPr>
              <a:t>Show the running app first, then prove the pipeline and release-management decisions.</a:t>
            </a:r>
          </a:p>
        </p:txBody>
      </p:sp>
      <p:sp>
        <p:nvSpPr>
          <p:cNvPr id="4" name="point-0">
            <a:extLst xmlns:a="http://schemas.openxmlformats.org/drawingml/2006/main">
              <a:ext uri="{FF2B5EF4-FFF2-40B4-BE49-F238E27FC236}">
                <a16:creationId xmlns:a16="http://schemas.microsoft.com/office/drawing/2014/main" id="{0A25B083-132B-43F0-9E6A-CE407914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78530"/>
            <a:ext cx="9113520" cy="69342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5" name="point-text-0">
            <a:extLst xmlns:a="http://schemas.openxmlformats.org/drawingml/2006/main">
              <a:ext uri="{FF2B5EF4-FFF2-40B4-BE49-F238E27FC236}">
                <a16:creationId xmlns:a16="http://schemas.microsoft.com/office/drawing/2014/main" id="{BAFE5480-E2C7-4988-B97C-46B603FD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95700"/>
            <a:ext cx="857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F2528"/>
                </a:solidFill>
              </a:defRPr>
            </a:pPr>
            <a:r>
              <a:rPr sz="1800">
                <a:solidFill>
                  <a:srgbClr val="1F2528"/>
                </a:solidFill>
              </a:rPr>
              <a:t>Open http://localhost:8080 and add a recipe.</a:t>
            </a:r>
          </a:p>
        </p:txBody>
      </p:sp>
      <p:sp>
        <p:nvSpPr>
          <p:cNvPr id="6" name="point-1">
            <a:extLst xmlns:a="http://schemas.openxmlformats.org/drawingml/2006/main">
              <a:ext uri="{FF2B5EF4-FFF2-40B4-BE49-F238E27FC236}">
                <a16:creationId xmlns:a16="http://schemas.microsoft.com/office/drawing/2014/main" id="{F3901FDF-7E99-4E3D-BF72-2F246A56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9113520" cy="69342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7" name="point-text-1">
            <a:extLst xmlns:a="http://schemas.openxmlformats.org/drawingml/2006/main">
              <a:ext uri="{FF2B5EF4-FFF2-40B4-BE49-F238E27FC236}">
                <a16:creationId xmlns:a16="http://schemas.microsoft.com/office/drawing/2014/main" id="{6AC0249E-188A-40D4-BC34-BA1DB2E6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72000"/>
            <a:ext cx="857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F2528"/>
                </a:solidFill>
              </a:defRPr>
            </a:pPr>
            <a:r>
              <a:rPr sz="1800">
                <a:solidFill>
                  <a:srgbClr val="1F2528"/>
                </a:solidFill>
              </a:rPr>
              <a:t>Show CI tests, image build, and scan jobs.</a:t>
            </a:r>
          </a:p>
        </p:txBody>
      </p:sp>
      <p:sp>
        <p:nvSpPr>
          <p:cNvPr id="8" name="point-2">
            <a:extLst xmlns:a="http://schemas.openxmlformats.org/drawingml/2006/main">
              <a:ext uri="{FF2B5EF4-FFF2-40B4-BE49-F238E27FC236}">
                <a16:creationId xmlns:a16="http://schemas.microsoft.com/office/drawing/2014/main" id="{39BA8394-1971-465F-A7CC-9820D5BB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46370"/>
            <a:ext cx="9113520" cy="69342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9" name="point-text-2">
            <a:extLst xmlns:a="http://schemas.openxmlformats.org/drawingml/2006/main">
              <a:ext uri="{FF2B5EF4-FFF2-40B4-BE49-F238E27FC236}">
                <a16:creationId xmlns:a16="http://schemas.microsoft.com/office/drawing/2014/main" id="{6DF9862C-B9F1-4BDF-B23B-9609D887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48300"/>
            <a:ext cx="857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F2528"/>
                </a:solidFill>
              </a:defRPr>
            </a:pPr>
            <a:r>
              <a:rPr sz="1800">
                <a:solidFill>
                  <a:srgbClr val="1F2528"/>
                </a:solidFill>
              </a:rPr>
              <a:t>Explain Terraform apply, Container Apps update, and rollback.</a:t>
            </a:r>
          </a:p>
        </p:txBody>
      </p:sp>
      <p:sp>
        <p:nvSpPr>
          <p:cNvPr id="10" name="signal">
            <a:extLst xmlns:a="http://schemas.openxmlformats.org/drawingml/2006/main">
              <a:ext uri="{FF2B5EF4-FFF2-40B4-BE49-F238E27FC236}">
                <a16:creationId xmlns:a16="http://schemas.microsoft.com/office/drawing/2014/main" id="{58C17FB8-5148-4F21-A211-C03F2939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520" y="3478530"/>
            <a:ext cx="6736080" cy="5558790"/>
          </a:xfrm>
          <a:prstGeom xmlns:a="http://schemas.openxmlformats.org/drawingml/2006/main" prst="roundRect">
            <a:avLst>
              <a:gd name="adj" fmla="val 1371"/>
            </a:avLst>
          </a:prstGeom>
          <a:solidFill xmlns:a="http://schemas.openxmlformats.org/drawingml/2006/main">
            <a:srgbClr val="315C72"/>
          </a:solidFill>
        </p:spPr>
      </p:sp>
      <p:sp>
        <p:nvSpPr>
          <p:cNvPr id="11" name="brand">
            <a:extLst xmlns:a="http://schemas.openxmlformats.org/drawingml/2006/main">
              <a:ext uri="{FF2B5EF4-FFF2-40B4-BE49-F238E27FC236}">
                <a16:creationId xmlns:a16="http://schemas.microsoft.com/office/drawing/2014/main" id="{2790D111-1782-4298-814E-A712956D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886200"/>
            <a:ext cx="5943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RecipeOps</a:t>
            </a:r>
          </a:p>
        </p:txBody>
      </p:sp>
      <p:sp>
        <p:nvSpPr>
          <p:cNvPr id="12" name="divider">
            <a:extLst xmlns:a="http://schemas.openxmlformats.org/drawingml/2006/main">
              <a:ext uri="{FF2B5EF4-FFF2-40B4-BE49-F238E27FC236}">
                <a16:creationId xmlns:a16="http://schemas.microsoft.com/office/drawing/2014/main" id="{9085947A-4229-49D3-8B8B-BA83FE14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48200"/>
            <a:ext cx="5943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3" name="stack">
            <a:extLst xmlns:a="http://schemas.openxmlformats.org/drawingml/2006/main">
              <a:ext uri="{FF2B5EF4-FFF2-40B4-BE49-F238E27FC236}">
                <a16:creationId xmlns:a16="http://schemas.microsoft.com/office/drawing/2014/main" id="{E3FDD020-3ADE-490B-83F4-CD176368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895850"/>
            <a:ext cx="5943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7FBF9"/>
                </a:solidFill>
              </a:defRPr>
            </a:pPr>
            <a:r>
              <a:rPr sz="2250">
                <a:solidFill>
                  <a:srgbClr val="F7FBF9"/>
                </a:solidFill>
              </a:rPr>
              <a:t>frontend + catalog API + recommendation API + PostgreSQL</a:t>
            </a:r>
          </a:p>
        </p:txBody>
      </p:sp>
      <p:sp>
        <p:nvSpPr>
          <p:cNvPr id="14" name="tools">
            <a:extLst xmlns:a="http://schemas.openxmlformats.org/drawingml/2006/main">
              <a:ext uri="{FF2B5EF4-FFF2-40B4-BE49-F238E27FC236}">
                <a16:creationId xmlns:a16="http://schemas.microsoft.com/office/drawing/2014/main" id="{9AD3B2CF-A5A0-4F37-BB3F-350C4112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810250"/>
            <a:ext cx="5943600" cy="281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E5F0EC"/>
                </a:solidFill>
              </a:defRPr>
            </a:pPr>
            <a:r>
              <a:rPr sz="1725">
                <a:solidFill>
                  <a:srgbClr val="E5F0EC"/>
                </a:solidFill>
              </a:rPr>
              <a:t>Automated with GitHub Actions, Terraform, Azure Container Apps, ACR, and Trivy.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75B9897F-4186-4F19-B232-13DA0133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10700"/>
            <a:ext cx="1645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1736B"/>
                </a:solidFill>
              </a:defRPr>
            </a:pPr>
            <a:r>
              <a:rPr sz="1200">
                <a:solidFill>
                  <a:srgbClr val="61736B"/>
                </a:solidFill>
              </a:rPr>
              <a:t>RecipeOps release deck</a:t>
            </a:r>
          </a:p>
        </p:txBody>
      </p:sp>
    </p:spTree>
    <p:extLst>
      <p:ext uri="{BB962C8B-B14F-4D97-AF65-F5344CB8AC3E}">
        <p14:creationId xmlns:p14="http://schemas.microsoft.com/office/powerpoint/2010/main" val="14628373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2026-05-08T21:28:01.5650000Z</dcterms:created>
  <dcterms:modified xsi:type="dcterms:W3CDTF">2026-05-08T21:28:01.5650000Z</dcterms:modified>
</coreProperties>
</file>